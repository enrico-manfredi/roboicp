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70079-2F54-4634-BAB5-549938DEFED4}" v="13" dt="2022-02-06T15:37:50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4" d="100"/>
          <a:sy n="64" d="100"/>
        </p:scale>
        <p:origin x="5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fredi-Haylock, Enrico" userId="8075ed0a-23af-4bd6-84e5-e6ea9c127bf6" providerId="ADAL" clId="{01E70079-2F54-4634-BAB5-549938DEFED4}"/>
    <pc:docChg chg="undo custSel addSld modSld">
      <pc:chgData name="Manfredi-Haylock, Enrico" userId="8075ed0a-23af-4bd6-84e5-e6ea9c127bf6" providerId="ADAL" clId="{01E70079-2F54-4634-BAB5-549938DEFED4}" dt="2022-02-06T15:44:51.361" v="844" actId="20577"/>
      <pc:docMkLst>
        <pc:docMk/>
      </pc:docMkLst>
      <pc:sldChg chg="modSp mod">
        <pc:chgData name="Manfredi-Haylock, Enrico" userId="8075ed0a-23af-4bd6-84e5-e6ea9c127bf6" providerId="ADAL" clId="{01E70079-2F54-4634-BAB5-549938DEFED4}" dt="2022-02-06T15:28:26.822" v="2" actId="20577"/>
        <pc:sldMkLst>
          <pc:docMk/>
          <pc:sldMk cId="2556940674" sldId="257"/>
        </pc:sldMkLst>
        <pc:spChg chg="mod">
          <ac:chgData name="Manfredi-Haylock, Enrico" userId="8075ed0a-23af-4bd6-84e5-e6ea9c127bf6" providerId="ADAL" clId="{01E70079-2F54-4634-BAB5-549938DEFED4}" dt="2022-02-06T15:28:26.822" v="2" actId="20577"/>
          <ac:spMkLst>
            <pc:docMk/>
            <pc:sldMk cId="2556940674" sldId="257"/>
            <ac:spMk id="3" creationId="{2F40914A-2C6A-4D44-87F2-87DDDF9A097F}"/>
          </ac:spMkLst>
        </pc:spChg>
      </pc:sldChg>
      <pc:sldChg chg="addSp delSp modSp new mod">
        <pc:chgData name="Manfredi-Haylock, Enrico" userId="8075ed0a-23af-4bd6-84e5-e6ea9c127bf6" providerId="ADAL" clId="{01E70079-2F54-4634-BAB5-549938DEFED4}" dt="2022-02-06T15:44:51.361" v="844" actId="20577"/>
        <pc:sldMkLst>
          <pc:docMk/>
          <pc:sldMk cId="376692416" sldId="264"/>
        </pc:sldMkLst>
        <pc:spChg chg="mod">
          <ac:chgData name="Manfredi-Haylock, Enrico" userId="8075ed0a-23af-4bd6-84e5-e6ea9c127bf6" providerId="ADAL" clId="{01E70079-2F54-4634-BAB5-549938DEFED4}" dt="2022-02-06T15:28:53.709" v="25" actId="20577"/>
          <ac:spMkLst>
            <pc:docMk/>
            <pc:sldMk cId="376692416" sldId="264"/>
            <ac:spMk id="2" creationId="{27C9355A-BE9D-4090-BA4A-44D6CC4F19DE}"/>
          </ac:spMkLst>
        </pc:spChg>
        <pc:spChg chg="add del mod">
          <ac:chgData name="Manfredi-Haylock, Enrico" userId="8075ed0a-23af-4bd6-84e5-e6ea9c127bf6" providerId="ADAL" clId="{01E70079-2F54-4634-BAB5-549938DEFED4}" dt="2022-02-06T15:44:51.361" v="844" actId="20577"/>
          <ac:spMkLst>
            <pc:docMk/>
            <pc:sldMk cId="376692416" sldId="264"/>
            <ac:spMk id="3" creationId="{CAABEA78-1830-4B74-8D93-A1AD9D686EAB}"/>
          </ac:spMkLst>
        </pc:spChg>
        <pc:graphicFrameChg chg="add del mod">
          <ac:chgData name="Manfredi-Haylock, Enrico" userId="8075ed0a-23af-4bd6-84e5-e6ea9c127bf6" providerId="ADAL" clId="{01E70079-2F54-4634-BAB5-549938DEFED4}" dt="2022-02-06T15:37:36.904" v="30"/>
          <ac:graphicFrameMkLst>
            <pc:docMk/>
            <pc:sldMk cId="376692416" sldId="264"/>
            <ac:graphicFrameMk id="4" creationId="{2A24D7CB-0086-4E36-895B-412FDA896CD5}"/>
          </ac:graphicFrameMkLst>
        </pc:graphicFrameChg>
        <pc:graphicFrameChg chg="add del mod">
          <ac:chgData name="Manfredi-Haylock, Enrico" userId="8075ed0a-23af-4bd6-84e5-e6ea9c127bf6" providerId="ADAL" clId="{01E70079-2F54-4634-BAB5-549938DEFED4}" dt="2022-02-06T15:37:50.135" v="39"/>
          <ac:graphicFrameMkLst>
            <pc:docMk/>
            <pc:sldMk cId="376692416" sldId="264"/>
            <ac:graphicFrameMk id="6" creationId="{9C4CDFDA-08AA-4096-BC82-5B349250C10B}"/>
          </ac:graphicFrameMkLst>
        </pc:graphicFrameChg>
        <pc:picChg chg="add del">
          <ac:chgData name="Manfredi-Haylock, Enrico" userId="8075ed0a-23af-4bd6-84e5-e6ea9c127bf6" providerId="ADAL" clId="{01E70079-2F54-4634-BAB5-549938DEFED4}" dt="2022-02-06T15:37:43.673" v="32"/>
          <ac:picMkLst>
            <pc:docMk/>
            <pc:sldMk cId="376692416" sldId="264"/>
            <ac:picMk id="5" creationId="{6526589F-07C9-4698-8EE2-7759D1E6A704}"/>
          </ac:picMkLst>
        </pc:picChg>
        <pc:picChg chg="add mod">
          <ac:chgData name="Manfredi-Haylock, Enrico" userId="8075ed0a-23af-4bd6-84e5-e6ea9c127bf6" providerId="ADAL" clId="{01E70079-2F54-4634-BAB5-549938DEFED4}" dt="2022-02-06T15:37:57.218" v="41" actId="1076"/>
          <ac:picMkLst>
            <pc:docMk/>
            <pc:sldMk cId="376692416" sldId="264"/>
            <ac:picMk id="7" creationId="{2CDD7819-7018-4D82-8475-58A41E7EB1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BCB86-1F0C-4ABF-973A-C8E52CD12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124065-E2DF-4861-B94E-AB6B41EAF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8DDC7-5E45-49E8-A845-BB1565C0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0072C-2029-4207-8247-8C7A3629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57CD9-C4B1-42A6-869C-84932C6A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83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C0BC6-BABC-4BA2-B094-33835293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60C26-E683-4260-9503-918758A88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7197-4809-4B2E-8015-EB387D4F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0A4E-63B6-4C6B-B1C1-68F40AFB6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DC4AF-9270-4826-8B62-C3668BD0E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3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966C-A9E2-434D-B53C-2E30AC2A4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D8DB8-EAB9-445B-B2D4-61AAD0040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FF9E-0940-4D10-B060-C4F85850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6BC59-7E54-4D66-9DF2-26EDCDEE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144CF-5C2B-49CB-865B-4BEDBDFD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164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7030-691E-4C6E-BDD7-6549D21A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53B72-84BF-40DC-B9FD-290CC8A8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C2BF1-EB1D-4C46-BEF0-92A68D1E2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BF258-553A-41C6-93D5-64913FA20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DAE69-8587-435E-AE66-027309E8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6A7A7-AF37-403C-AD77-9924C83D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92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7E21-A508-440C-956F-05656D4C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FA927-1CDE-463B-AC23-E589D2359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696F4-B61E-4507-B4E5-0A1C676A7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45971F-36E0-443F-9335-65DB07750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D0F7E-7EAD-459C-84FC-9218E3D1A7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E98F4-9443-4C82-9E1C-21B62EB4E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968A40-CAC0-4EA5-B1D3-04308539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1E887-430D-4344-834C-474662C5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720E-6353-4696-A296-572632F1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19D05-ED5F-4D64-8FEF-F4B314CC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1B763-930D-4694-AF26-33A5C4E7F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0DF05-88E2-4FDE-BF6E-FD445A0C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55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31D5F6-6477-433E-AFF8-669759FD8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DADB9-3EA8-41D5-8842-5FFA28EC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C6F0-8C96-4B96-832A-0F2A751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3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8F1-5FF8-462D-80C5-5BBD0100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66598-A05E-46F8-AECF-6F5DDF992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6FA84-67C8-4048-A29D-5EA15CC69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04A08-A2D2-4457-8165-C08B8918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188B2-E2A8-4DB6-81E6-0C951428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1677E-B9C4-4E0D-8B1F-1186DE1A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7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81096-9DA6-431B-8879-EE8B2923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26DF3-A560-414D-AF65-DB205986A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B2C93-703C-4E90-8DA3-94FCF7476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45ACB-3EC4-41B0-8613-C09C5CA1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48836-5B47-4BD9-9AFC-32585F85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B989C-5572-4ADB-9366-EA136865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8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3BD0-BFC8-4898-AE8E-FE321A2D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940D1-967B-4576-A031-FA98B6F63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E5AA4-9BFD-4474-B3F6-9BB858073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6595F-50EC-456D-8E5C-47E10EC21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D5E6E-C401-4997-B266-6AFA93B1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13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D327D-A469-4DDA-A29E-A898443DC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71056-DE23-4CEF-9455-4CF0C2E02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B1A79-5DD2-4E3B-AAB4-3C38CF36B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5434C-E52D-4E02-A206-0DA9A5C11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F9DB-9094-4672-A5AA-35980F0E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3918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5D8EAB-B14D-4A34-BDB0-BE1252C2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61DC8-143B-4BAA-BB0D-7B227A0B9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4C08C-B546-4065-B779-7C136BB66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4664F-B64F-4B03-BDA2-7026132D4349}" type="datetimeFigureOut">
              <a:rPr lang="en-GB" smtClean="0"/>
              <a:t>06/02/2022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839D-596B-4C31-B93C-9BA86A245E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A31A1-8B85-48B1-B587-0246AEBF0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8EDBF-7213-497B-8115-11B1860A74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01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1B985A-5A1F-453F-B5D3-4050A5E66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575"/>
            <a:ext cx="10515600" cy="1325563"/>
          </a:xfrm>
        </p:spPr>
        <p:txBody>
          <a:bodyPr/>
          <a:lstStyle/>
          <a:p>
            <a:r>
              <a:rPr lang="en-GB" dirty="0"/>
              <a:t>Old Machine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F8E19E-CDA9-4338-B1A6-3F012710C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"/>
          <a:stretch/>
        </p:blipFill>
        <p:spPr bwMode="auto">
          <a:xfrm>
            <a:off x="1284718" y="1440860"/>
            <a:ext cx="9622564" cy="5417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D7BDB-E0F4-4275-A67D-5555EBC2098A}"/>
              </a:ext>
            </a:extLst>
          </p:cNvPr>
          <p:cNvSpPr txBox="1"/>
          <p:nvPr/>
        </p:nvSpPr>
        <p:spPr>
          <a:xfrm flipH="1">
            <a:off x="1677966" y="2922662"/>
            <a:ext cx="110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Reaction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2572D-2FBC-49A6-88BD-1AE921B8E6E4}"/>
              </a:ext>
            </a:extLst>
          </p:cNvPr>
          <p:cNvSpPr txBox="1"/>
          <p:nvPr/>
        </p:nvSpPr>
        <p:spPr>
          <a:xfrm flipH="1">
            <a:off x="5822676" y="1752677"/>
            <a:ext cx="189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Filtering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C185D6-C6BF-4BFC-87D6-9044486147EF}"/>
              </a:ext>
            </a:extLst>
          </p:cNvPr>
          <p:cNvSpPr txBox="1"/>
          <p:nvPr/>
        </p:nvSpPr>
        <p:spPr>
          <a:xfrm flipH="1">
            <a:off x="6899446" y="2737996"/>
            <a:ext cx="178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Dilution system</a:t>
            </a:r>
          </a:p>
        </p:txBody>
      </p:sp>
    </p:spTree>
    <p:extLst>
      <p:ext uri="{BB962C8B-B14F-4D97-AF65-F5344CB8AC3E}">
        <p14:creationId xmlns:p14="http://schemas.microsoft.com/office/powerpoint/2010/main" val="1270342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8A67-DBC7-4189-9065-B3A849E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0914A-2C6A-4D44-87F2-87DDDF9A0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94" y="1460500"/>
            <a:ext cx="6828184" cy="5032375"/>
          </a:xfrm>
        </p:spPr>
        <p:txBody>
          <a:bodyPr>
            <a:normAutofit fontScale="62500" lnSpcReduction="20000"/>
          </a:bodyPr>
          <a:lstStyle/>
          <a:p>
            <a:r>
              <a:rPr lang="en-GB" dirty="0" err="1"/>
              <a:t>Creality</a:t>
            </a:r>
            <a:r>
              <a:rPr lang="en-GB" dirty="0"/>
              <a:t> CR10-S Max Printer</a:t>
            </a:r>
          </a:p>
          <a:p>
            <a:pPr lvl="1"/>
            <a:r>
              <a:rPr lang="en-GB" dirty="0"/>
              <a:t>£550</a:t>
            </a:r>
          </a:p>
          <a:p>
            <a:pPr lvl="1"/>
            <a:r>
              <a:rPr lang="en-GB" dirty="0"/>
              <a:t>Large </a:t>
            </a:r>
            <a:r>
              <a:rPr lang="en-GB" dirty="0" err="1"/>
              <a:t>buildplate</a:t>
            </a:r>
            <a:endParaRPr lang="en-GB" dirty="0"/>
          </a:p>
          <a:p>
            <a:pPr lvl="1"/>
            <a:r>
              <a:rPr lang="en-GB" dirty="0"/>
              <a:t>Dual screw z-axis for fast and high force z movement</a:t>
            </a:r>
          </a:p>
          <a:p>
            <a:pPr lvl="1"/>
            <a:endParaRPr lang="en-GB" dirty="0"/>
          </a:p>
          <a:p>
            <a:r>
              <a:rPr lang="en-GB" dirty="0"/>
              <a:t>Additional consumables</a:t>
            </a:r>
          </a:p>
          <a:p>
            <a:pPr lvl="1"/>
            <a:r>
              <a:rPr lang="en-GB" dirty="0"/>
              <a:t>Pipette tips</a:t>
            </a:r>
          </a:p>
          <a:p>
            <a:pPr lvl="1"/>
            <a:r>
              <a:rPr lang="en-GB" dirty="0"/>
              <a:t>Syringes</a:t>
            </a:r>
          </a:p>
          <a:p>
            <a:pPr lvl="1"/>
            <a:r>
              <a:rPr lang="en-GB" dirty="0"/>
              <a:t>Check valves</a:t>
            </a:r>
          </a:p>
          <a:p>
            <a:pPr lvl="1"/>
            <a:r>
              <a:rPr lang="en-GB" dirty="0"/>
              <a:t>Tubing</a:t>
            </a:r>
          </a:p>
          <a:p>
            <a:pPr lvl="1"/>
            <a:r>
              <a:rPr lang="en-GB" dirty="0"/>
              <a:t>Syringe filters</a:t>
            </a:r>
          </a:p>
          <a:p>
            <a:pPr lvl="1"/>
            <a:r>
              <a:rPr lang="en-GB" dirty="0"/>
              <a:t>Vials</a:t>
            </a:r>
          </a:p>
          <a:p>
            <a:pPr lvl="1"/>
            <a:r>
              <a:rPr lang="en-GB" dirty="0"/>
              <a:t>Mixing impellers (printable)</a:t>
            </a:r>
          </a:p>
          <a:p>
            <a:pPr lvl="1"/>
            <a:r>
              <a:rPr lang="en-GB" dirty="0"/>
              <a:t>Peristaltic Pumps</a:t>
            </a:r>
          </a:p>
          <a:p>
            <a:pPr lvl="1"/>
            <a:r>
              <a:rPr lang="en-GB" dirty="0"/>
              <a:t>Additional microcontroller (for external and head mounted systems)</a:t>
            </a:r>
          </a:p>
          <a:p>
            <a:pPr lvl="1"/>
            <a:endParaRPr lang="en-GB" dirty="0"/>
          </a:p>
          <a:p>
            <a:r>
              <a:rPr lang="en-GB" dirty="0"/>
              <a:t>Most budget can be spent at the start of the project through ordering necessary parts</a:t>
            </a:r>
          </a:p>
          <a:p>
            <a:pPr lvl="1"/>
            <a:r>
              <a:rPr lang="en-GB" dirty="0"/>
              <a:t>Some contingency budget needed to buy additional consumables as needs arise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8FA45-EDB6-4D18-8950-0941A2780E25}"/>
              </a:ext>
            </a:extLst>
          </p:cNvPr>
          <p:cNvSpPr txBox="1"/>
          <p:nvPr/>
        </p:nvSpPr>
        <p:spPr>
          <a:xfrm flipH="1">
            <a:off x="8406273" y="2698118"/>
            <a:ext cx="178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Dilution system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33CE14-5141-4E66-9BD9-64DA96F4B820}"/>
              </a:ext>
            </a:extLst>
          </p:cNvPr>
          <p:cNvCxnSpPr>
            <a:stCxn id="7" idx="2"/>
          </p:cNvCxnSpPr>
          <p:nvPr/>
        </p:nvCxnSpPr>
        <p:spPr>
          <a:xfrm flipH="1">
            <a:off x="9117874" y="3067450"/>
            <a:ext cx="182717" cy="67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 Creality CR-10 Max 3D Printer, CR10M">
            <a:extLst>
              <a:ext uri="{FF2B5EF4-FFF2-40B4-BE49-F238E27FC236}">
                <a16:creationId xmlns:a16="http://schemas.microsoft.com/office/drawing/2014/main" id="{E30B10BF-08D8-4BCE-B03E-50B61F86B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496" y="1266116"/>
            <a:ext cx="4107098" cy="318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EC29BBE-3547-400F-A72C-58EC46F7ACED}"/>
              </a:ext>
            </a:extLst>
          </p:cNvPr>
          <p:cNvSpPr txBox="1"/>
          <p:nvPr/>
        </p:nvSpPr>
        <p:spPr>
          <a:xfrm flipH="1">
            <a:off x="8741558" y="2848831"/>
            <a:ext cx="110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Reaction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BE2968-E8CD-4189-A845-AB199845D3BC}"/>
              </a:ext>
            </a:extLst>
          </p:cNvPr>
          <p:cNvSpPr txBox="1"/>
          <p:nvPr/>
        </p:nvSpPr>
        <p:spPr>
          <a:xfrm flipH="1">
            <a:off x="10567218" y="2257915"/>
            <a:ext cx="189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Filtering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CF6EC9-A377-448F-B5BD-1E8AE8A8AE0D}"/>
              </a:ext>
            </a:extLst>
          </p:cNvPr>
          <p:cNvSpPr txBox="1"/>
          <p:nvPr/>
        </p:nvSpPr>
        <p:spPr>
          <a:xfrm flipH="1">
            <a:off x="8493358" y="721269"/>
            <a:ext cx="178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Dilution system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B6CB042-EC55-4BF5-8AE6-9C3DCE6B1544}"/>
              </a:ext>
            </a:extLst>
          </p:cNvPr>
          <p:cNvCxnSpPr>
            <a:cxnSpLocks/>
          </p:cNvCxnSpPr>
          <p:nvPr/>
        </p:nvCxnSpPr>
        <p:spPr>
          <a:xfrm flipH="1">
            <a:off x="10467702" y="2433872"/>
            <a:ext cx="99516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7ADBDE7-30E7-4ABD-A38D-055BE4E37DA3}"/>
              </a:ext>
            </a:extLst>
          </p:cNvPr>
          <p:cNvCxnSpPr>
            <a:stCxn id="15" idx="2"/>
          </p:cNvCxnSpPr>
          <p:nvPr/>
        </p:nvCxnSpPr>
        <p:spPr>
          <a:xfrm flipH="1">
            <a:off x="9065622" y="3495162"/>
            <a:ext cx="228422" cy="11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E07A8D6-5E44-4239-983D-C8C0477B534F}"/>
              </a:ext>
            </a:extLst>
          </p:cNvPr>
          <p:cNvCxnSpPr>
            <a:stCxn id="17" idx="2"/>
          </p:cNvCxnSpPr>
          <p:nvPr/>
        </p:nvCxnSpPr>
        <p:spPr>
          <a:xfrm flipH="1">
            <a:off x="9204959" y="1090601"/>
            <a:ext cx="182717" cy="677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961958C-F0FB-4F4C-BD78-F9019FFD4F4E}"/>
              </a:ext>
            </a:extLst>
          </p:cNvPr>
          <p:cNvSpPr txBox="1"/>
          <p:nvPr/>
        </p:nvSpPr>
        <p:spPr>
          <a:xfrm>
            <a:off x="7600838" y="4730483"/>
            <a:ext cx="3386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Whole system in a single footprint greatly simplifies operation &amp; maintenance</a:t>
            </a:r>
          </a:p>
        </p:txBody>
      </p:sp>
    </p:spTree>
    <p:extLst>
      <p:ext uri="{BB962C8B-B14F-4D97-AF65-F5344CB8AC3E}">
        <p14:creationId xmlns:p14="http://schemas.microsoft.com/office/powerpoint/2010/main" val="2556940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688FA-6757-402E-B8D5-70817E41E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Plate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4CA21-CCD8-4717-87AB-4FDCAC3BDC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86"/>
          <a:stretch/>
        </p:blipFill>
        <p:spPr>
          <a:xfrm>
            <a:off x="4233333" y="0"/>
            <a:ext cx="6041652" cy="6858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1966B16-C52F-42B9-9A3C-2A13CD4CA2B8}"/>
              </a:ext>
            </a:extLst>
          </p:cNvPr>
          <p:cNvCxnSpPr>
            <a:cxnSpLocks/>
          </p:cNvCxnSpPr>
          <p:nvPr/>
        </p:nvCxnSpPr>
        <p:spPr>
          <a:xfrm flipV="1">
            <a:off x="3568251" y="1202268"/>
            <a:ext cx="995282" cy="558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49ADF7-E8F5-46C5-89A2-3268ABCBC539}"/>
              </a:ext>
            </a:extLst>
          </p:cNvPr>
          <p:cNvCxnSpPr>
            <a:cxnSpLocks/>
          </p:cNvCxnSpPr>
          <p:nvPr/>
        </p:nvCxnSpPr>
        <p:spPr>
          <a:xfrm>
            <a:off x="3695700" y="3251201"/>
            <a:ext cx="791633" cy="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789134-01FC-4B42-B95B-344BAA0E7474}"/>
              </a:ext>
            </a:extLst>
          </p:cNvPr>
          <p:cNvCxnSpPr>
            <a:cxnSpLocks/>
          </p:cNvCxnSpPr>
          <p:nvPr/>
        </p:nvCxnSpPr>
        <p:spPr>
          <a:xfrm flipV="1">
            <a:off x="3568251" y="5469468"/>
            <a:ext cx="995282" cy="373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680AF7-F23F-4C2E-9D54-5AB41329E2ED}"/>
              </a:ext>
            </a:extLst>
          </p:cNvPr>
          <p:cNvCxnSpPr>
            <a:cxnSpLocks/>
          </p:cNvCxnSpPr>
          <p:nvPr/>
        </p:nvCxnSpPr>
        <p:spPr>
          <a:xfrm flipV="1">
            <a:off x="3695700" y="4859867"/>
            <a:ext cx="1045633" cy="76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333C47-B114-4B99-B786-6455611FF59A}"/>
              </a:ext>
            </a:extLst>
          </p:cNvPr>
          <p:cNvCxnSpPr>
            <a:cxnSpLocks/>
          </p:cNvCxnSpPr>
          <p:nvPr/>
        </p:nvCxnSpPr>
        <p:spPr>
          <a:xfrm flipH="1">
            <a:off x="7467601" y="365125"/>
            <a:ext cx="2997199" cy="837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A63155C-14C6-4125-9CD6-E31BBB8255E7}"/>
              </a:ext>
            </a:extLst>
          </p:cNvPr>
          <p:cNvCxnSpPr/>
          <p:nvPr/>
        </p:nvCxnSpPr>
        <p:spPr>
          <a:xfrm flipH="1" flipV="1">
            <a:off x="9635067" y="1690688"/>
            <a:ext cx="914400" cy="70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2BB793-4B0F-4B73-BB3C-569AFE02F648}"/>
              </a:ext>
            </a:extLst>
          </p:cNvPr>
          <p:cNvCxnSpPr>
            <a:cxnSpLocks/>
          </p:cNvCxnSpPr>
          <p:nvPr/>
        </p:nvCxnSpPr>
        <p:spPr>
          <a:xfrm flipH="1">
            <a:off x="9321800" y="43180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F54DDF1-7B2A-4F21-A9D2-E455F64C4CB7}"/>
              </a:ext>
            </a:extLst>
          </p:cNvPr>
          <p:cNvSpPr txBox="1"/>
          <p:nvPr/>
        </p:nvSpPr>
        <p:spPr>
          <a:xfrm>
            <a:off x="2262504" y="1674834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Mixing Vials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2F7C19-07D0-43A9-92AB-A55302F035FB}"/>
              </a:ext>
            </a:extLst>
          </p:cNvPr>
          <p:cNvSpPr txBox="1"/>
          <p:nvPr/>
        </p:nvSpPr>
        <p:spPr>
          <a:xfrm>
            <a:off x="2446768" y="2941135"/>
            <a:ext cx="124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Pipette tips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0F3AFC-CE71-46DF-8B36-4A2B2B026CED}"/>
              </a:ext>
            </a:extLst>
          </p:cNvPr>
          <p:cNvSpPr txBox="1"/>
          <p:nvPr/>
        </p:nvSpPr>
        <p:spPr>
          <a:xfrm>
            <a:off x="2628108" y="5658412"/>
            <a:ext cx="95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Syringes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0C8C56-726B-48D9-8CC7-DEBBD1C8C152}"/>
              </a:ext>
            </a:extLst>
          </p:cNvPr>
          <p:cNvSpPr txBox="1"/>
          <p:nvPr/>
        </p:nvSpPr>
        <p:spPr>
          <a:xfrm>
            <a:off x="2420016" y="4760972"/>
            <a:ext cx="1813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Syringe</a:t>
            </a:r>
          </a:p>
          <a:p>
            <a:r>
              <a:rPr lang="en-GB"/>
              <a:t>Collection Spouts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621057-6570-4DCF-BAB4-DA2A978652B3}"/>
              </a:ext>
            </a:extLst>
          </p:cNvPr>
          <p:cNvSpPr txBox="1"/>
          <p:nvPr/>
        </p:nvSpPr>
        <p:spPr>
          <a:xfrm>
            <a:off x="10558347" y="216390"/>
            <a:ext cx="1383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Priming Bins</a:t>
            </a:r>
          </a:p>
          <a:p>
            <a:r>
              <a:rPr lang="en-GB" dirty="0"/>
              <a:t>(acid &amp; DES)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0D0FF8-5AFF-404B-AC2C-8E3FE385A589}"/>
              </a:ext>
            </a:extLst>
          </p:cNvPr>
          <p:cNvSpPr txBox="1"/>
          <p:nvPr/>
        </p:nvSpPr>
        <p:spPr>
          <a:xfrm>
            <a:off x="10503229" y="1593335"/>
            <a:ext cx="1084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ICP Tubes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9BFCC0-33E3-4002-8487-F716A52AD225}"/>
              </a:ext>
            </a:extLst>
          </p:cNvPr>
          <p:cNvSpPr txBox="1"/>
          <p:nvPr/>
        </p:nvSpPr>
        <p:spPr>
          <a:xfrm>
            <a:off x="10549467" y="4133334"/>
            <a:ext cx="125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Waste Area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1106FD-FFD1-4F94-BFBB-839499AA70F9}"/>
              </a:ext>
            </a:extLst>
          </p:cNvPr>
          <p:cNvSpPr txBox="1"/>
          <p:nvPr/>
        </p:nvSpPr>
        <p:spPr>
          <a:xfrm>
            <a:off x="331399" y="2235080"/>
            <a:ext cx="2565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48 Samples on plate in this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55075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BED5F-0110-4AEA-9D57-0327A526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54FE-69AD-430C-AAF0-023058F2B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Long reactions with precise time information and event logging possible without supervision</a:t>
            </a:r>
          </a:p>
          <a:p>
            <a:r>
              <a:rPr lang="en-GB" dirty="0"/>
              <a:t>Whole setup fits in a standard fume hood – scalable with no additional lab modifications required even when handling toxic samples</a:t>
            </a:r>
          </a:p>
          <a:p>
            <a:r>
              <a:rPr lang="en-GB" dirty="0"/>
              <a:t>Self-building: since all of the components will be fitted within the machine print area – all parts of the machine can be printed by the printer before it is then modified for chemistry</a:t>
            </a:r>
          </a:p>
          <a:p>
            <a:r>
              <a:rPr lang="en-GB" dirty="0"/>
              <a:t>Low cost &amp; open source – development cost will be around £10K but finalised build cost should be significantly lower – all code can be published on an open repository and all parts used are widely available, so it can be modified and iterated by other uses as needed</a:t>
            </a:r>
          </a:p>
          <a:p>
            <a:r>
              <a:rPr lang="en-GB" dirty="0"/>
              <a:t>Can handle and filter liquids with high viscosity and solid loadings (e.g. 10,000 </a:t>
            </a:r>
            <a:r>
              <a:rPr lang="en-GB" dirty="0" err="1"/>
              <a:t>cP</a:t>
            </a:r>
            <a:r>
              <a:rPr lang="en-GB" dirty="0"/>
              <a:t>, 25 v% particulate loadings)</a:t>
            </a:r>
          </a:p>
        </p:txBody>
      </p:sp>
    </p:spTree>
    <p:extLst>
      <p:ext uri="{BB962C8B-B14F-4D97-AF65-F5344CB8AC3E}">
        <p14:creationId xmlns:p14="http://schemas.microsoft.com/office/powerpoint/2010/main" val="100759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9355A-BE9D-4090-BA4A-44D6CC4F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EA78-1830-4B74-8D93-A1AD9D68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21280"/>
            <a:ext cx="10515600" cy="323672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All funds can be spent by the project deadline (30</a:t>
            </a:r>
            <a:r>
              <a:rPr lang="en-GB" baseline="30000" dirty="0"/>
              <a:t>th</a:t>
            </a:r>
            <a:r>
              <a:rPr lang="en-GB" dirty="0"/>
              <a:t> June) with a full design delivered</a:t>
            </a:r>
          </a:p>
          <a:p>
            <a:r>
              <a:rPr lang="en-GB" dirty="0"/>
              <a:t>Machine probably won’t be operational until Jan ‘23 due to other work I need to complete for my PhD (experimental cycles using old machine) and inevitable problems in the </a:t>
            </a:r>
            <a:r>
              <a:rPr lang="en-GB"/>
              <a:t>building process</a:t>
            </a:r>
            <a:endParaRPr lang="en-GB" dirty="0"/>
          </a:p>
          <a:p>
            <a:r>
              <a:rPr lang="en-GB" dirty="0"/>
              <a:t>3 month verification period for new machine between Feb and April ’23</a:t>
            </a:r>
          </a:p>
          <a:p>
            <a:r>
              <a:rPr lang="en-GB" dirty="0"/>
              <a:t>I will need external help from experienced engineers for CAD and build (since consumables take half the limit, the other half could be used to hire one?)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DD7819-7018-4D82-8475-58A41E7EB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331"/>
            <a:ext cx="12192000" cy="192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369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Old Machine</vt:lpstr>
      <vt:lpstr>New Machine</vt:lpstr>
      <vt:lpstr>Plate Layout</vt:lpstr>
      <vt:lpstr>Features</vt:lpstr>
      <vt:lpstr>Build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Old Machine</dc:title>
  <dc:creator>Manfredi-Haylock, Enrico</dc:creator>
  <cp:lastModifiedBy>Manfredi-Haylock, Enrico</cp:lastModifiedBy>
  <cp:revision>1</cp:revision>
  <dcterms:created xsi:type="dcterms:W3CDTF">2022-02-06T14:49:31Z</dcterms:created>
  <dcterms:modified xsi:type="dcterms:W3CDTF">2022-02-06T15:45:09Z</dcterms:modified>
</cp:coreProperties>
</file>